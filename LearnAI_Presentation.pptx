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457200"/>
          </a:xfrm>
          <a:prstGeom prst="roundRect">
            <a:avLst/>
          </a:prstGeom>
          <a:solidFill>
            <a:srgbClr val="343E2F"/>
          </a:solidFill>
          <a:ln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8F2"/>
                </a:solidFill>
              </a:defRPr>
            </a:pPr>
            <a:r>
              <a:t>🌿 LEARNAI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8F2"/>
                </a:solidFill>
              </a:defRPr>
            </a:pPr>
            <a:r>
              <a:t>An AI-Powered Personalized</a:t>
            </a:r>
            <a:br/>
            <a:r>
              <a:t>Learning &amp; Skill-Gap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DC3"/>
                </a:solidFill>
              </a:defRPr>
            </a:pPr>
            <a:r>
              <a:t>Turning free-text career aspirations, resume uploads, and skill assessments into structured, explainable, and adaptive curricula — built on Supabase, pgvector, and Groq LLMs.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18C5D"/>
                </a:solidFill>
              </a:defRPr>
            </a:pPr>
            <a:r>
              <a:t>By Code Catalyst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8C82"/>
                </a:solidFill>
              </a:defRPr>
            </a:pPr>
            <a:r>
              <a:t>PROJECT OVERVIEW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C24"/>
                </a:solidFill>
              </a:defRPr>
            </a:pPr>
            <a:r>
              <a:t>Generic course catalogs don't know what you already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28600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2596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One-Size-Fits-All Catalogs</a:t>
            </a:r>
          </a:p>
          <a:p>
            <a:pPr>
              <a:spcBef>
                <a:spcPts val="1200"/>
              </a:spcBef>
              <a:defRPr sz="1300">
                <a:solidFill>
                  <a:srgbClr val="64645F"/>
                </a:solidFill>
              </a:defRPr>
            </a:pPr>
            <a:r>
              <a:t>Learners scroll endlessly through bloated catalogs with no sense of prerequisite order, relevance, or customized starting points based on existing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2024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73168" y="228600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3108960"/>
            <a:ext cx="2596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Goals Stay Unstructured</a:t>
            </a:r>
          </a:p>
          <a:p>
            <a:pPr>
              <a:spcBef>
                <a:spcPts val="1200"/>
              </a:spcBef>
              <a:defRPr sz="1300">
                <a:solidFill>
                  <a:srgbClr val="64645F"/>
                </a:solidFill>
              </a:defRPr>
            </a:pPr>
            <a:r>
              <a:t>"I want to become an ML engineer" or "I want to be a Criminal Lawyer" never gets translated into concrete, measurable, and verified competence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92024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2286000"/>
            <a:ext cx="594360" cy="594360"/>
          </a:xfrm>
          <a:prstGeom prst="ellipse">
            <a:avLst/>
          </a:prstGeom>
          <a:solidFill>
            <a:srgbClr val="5D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8F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3108960"/>
            <a:ext cx="2596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C24"/>
                </a:solidFill>
              </a:defRPr>
            </a:pPr>
            <a:r>
              <a:t>Black-Box Recommendations</a:t>
            </a:r>
          </a:p>
          <a:p>
            <a:pPr>
              <a:spcBef>
                <a:spcPts val="1200"/>
              </a:spcBef>
              <a:defRPr sz="1300">
                <a:solidFill>
                  <a:srgbClr val="64645F"/>
                </a:solidFill>
              </a:defRPr>
            </a:pPr>
            <a:r>
              <a:t>Standard platforms offer recommendations without explainable reasoning — learners can't see why a course was picked or how it closes their specific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8F2"/>
                </a:solidFill>
              </a:defRPr>
            </a:pPr>
            <a:r>
              <a:t>LearnAI turns goals &amp; resumes into guided, explainable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3774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8F2"/>
                </a:solidFill>
              </a:defRPr>
            </a:pPr>
            <a:r>
              <a:t>Describe / Upload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Free-text career goals or resume uploads (.pdf / .docx) across CS &amp; Non-CS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40" y="23774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8F2"/>
                </a:solidFill>
              </a:defRPr>
            </a:pPr>
            <a:r>
              <a:t>AI Parses Skills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Scans qualifications against 100+ roles and 4,480+ benchmark skills in role_skills.json.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3774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8F2"/>
                </a:solidFill>
              </a:defRPr>
            </a:pPr>
            <a:r>
              <a:t>Path Is Generated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Topological sequencing + pgvector similarity + skill-gap scoring builds the roadmap.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2377440"/>
            <a:ext cx="1097280" cy="320040"/>
          </a:xfrm>
          <a:prstGeom prst="roundRect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8F2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8F2"/>
                </a:solidFill>
              </a:defRPr>
            </a:pPr>
            <a:r>
              <a:t>Track &amp; Adapt</a:t>
            </a:r>
          </a:p>
          <a:p>
            <a:pPr>
              <a:spcBef>
                <a:spcPts val="1000"/>
              </a:spcBef>
              <a:defRPr sz="1200">
                <a:solidFill>
                  <a:srgbClr val="C8CDC3"/>
                </a:solidFill>
              </a:defRPr>
            </a:pPr>
            <a:r>
              <a:t>Interactive verified quizzes, dynamic progress updates, and a context-aware AI mentor.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C24"/>
                </a:solidFill>
              </a:defRPr>
            </a:pPr>
            <a:r>
              <a:t>A lean, serverless, and robust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D7052"/>
                </a:solidFill>
              </a:defRPr>
            </a:pPr>
            <a:r>
              <a:t>💻 Browser &amp; Client Layer (React 19 + Vite 8 + Tailwind CSS 4)</a:t>
            </a:r>
          </a:p>
          <a:p>
            <a:pPr>
              <a:defRPr sz="1200">
                <a:solidFill>
                  <a:srgbClr val="2C2C24"/>
                </a:solidFill>
              </a:defRPr>
            </a:pPr>
            <a:r>
              <a:t>React Router 7, TanStack Query, Recharts (Radar &amp; Mastery Graphs), PDF.js &amp; Mammoth client-side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🔒 Auth &amp; PostgreSQL (RLS)</a:t>
            </a:r>
          </a:p>
          <a:p>
            <a:pPr>
              <a:defRPr sz="1150">
                <a:solidFill>
                  <a:srgbClr val="64645F"/>
                </a:solidFill>
              </a:defRPr>
            </a:pPr>
            <a:r>
              <a:t>Supabase Auth, Row Level Security (RLS) on all user tables, pgvector cosine similarity search over 384-dimensional course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310896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320040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⚡ 8 Serverless Edge Functions (Deno/TS)</a:t>
            </a:r>
          </a:p>
          <a:p>
            <a:pPr>
              <a:defRPr sz="1150">
                <a:solidFill>
                  <a:srgbClr val="64645F"/>
                </a:solidFill>
              </a:defRPr>
            </a:pPr>
            <a:r>
              <a:t>Eight micro-functions handle goal parsing, vector recommendations, greedy path compilation, live progress re-scoring, Groq quiz generation, and AI 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5912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18C5D"/>
                </a:solidFill>
              </a:defRPr>
            </a:pPr>
            <a:r>
              <a:t>🤖 Groq LLM Inference Layer</a:t>
            </a:r>
          </a:p>
          <a:p>
            <a:pPr>
              <a:defRPr sz="1200">
                <a:solidFill>
                  <a:srgbClr val="2C2C24"/>
                </a:solidFill>
              </a:defRPr>
            </a:pPr>
            <a:r>
              <a:t>Sub-second low-latency inference powering free-text profile extraction, personalized milestone explanations, MCQ quiz generation, and contextual AI mentoring.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C24"/>
                </a:solidFill>
              </a:defRPr>
            </a:pPr>
            <a:r>
              <a:t>Six capabilities delivering one continuous learning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Conversational Goal Parsing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Free-text career goals parsed into canonical skill profiles via Groq LLM without hallucination.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82880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0574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Resume Skill Gap Analyzer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Upload .pdf/.docx resumes to automatically benchmark skills against 100+ target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82880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05740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Personalized Learning Paths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Topological sequence compilation combining pgvector cosine similarity and skill-gap delta.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Interactive MCQ Quizzes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Dynamic 3-question skill verification assessments with server-side grading and zero key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41605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438912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Adaptive Progress &amp; Edit Plan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Real-time skill boosting upon course completion + full flexibility to delete/prune path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16052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4389120"/>
            <a:ext cx="2779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2C24"/>
                </a:solidFill>
              </a:defRPr>
            </a:pPr>
            <a:r>
              <a:t>Scoped AI Learning Guide</a:t>
            </a:r>
          </a:p>
          <a:p>
            <a:pPr>
              <a:spcBef>
                <a:spcPts val="600"/>
              </a:spcBef>
              <a:defRPr sz="1150">
                <a:solidFill>
                  <a:srgbClr val="64645F"/>
                </a:solidFill>
              </a:defRPr>
            </a:pPr>
            <a:r>
              <a:t>Private mentor chat referencing learner's active target role, verified skills, and roadmap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8F2"/>
                </a:solidFill>
              </a:defRPr>
            </a:pPr>
            <a:r>
              <a:t>Eight Supabase Edge Functions power every intelligent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38528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parse-goal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Extracts canonical skills, experience level, and timeframe from free-text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90088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get-recommendations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Performs pgvector semantic search blended with marginal skill-gap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51376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61104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generate-path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Greedy topological compiler structuring courses into milestone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12664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422392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update-progress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Live boosts skill proficiency on completion and re-scores remaining path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828800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938528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generate-quiz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Dynamically generates 3-question MCQ skill verification quizzes via Groq.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2990088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099816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submit-quiz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Grades quiz submissions server-side and logs verification into quiz_attempts.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4151376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261104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ask-assistant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Contextual AI mentor scoped directly to user goals, skills, and current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5312664"/>
            <a:ext cx="5120640" cy="9601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5422392"/>
            <a:ext cx="46634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18C5D"/>
                </a:solidFill>
              </a:defRPr>
            </a:pPr>
            <a:r>
              <a:t>⚡ explain-path-item</a:t>
            </a:r>
          </a:p>
          <a:p>
            <a:pPr>
              <a:spcBef>
                <a:spcPts val="300"/>
              </a:spcBef>
              <a:defRPr sz="1050">
                <a:solidFill>
                  <a:srgbClr val="D2D7CD"/>
                </a:solidFill>
              </a:defRPr>
            </a:pPr>
            <a:r>
              <a:t>Generates personalized pedagogical reasoning for each recommended milestone.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SCORING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C24"/>
                </a:solidFill>
              </a:defRPr>
            </a:pPr>
            <a:r>
              <a:t>Every course gets a deterministic, explainable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1188720"/>
          </a:xfrm>
          <a:prstGeom prst="roundRect">
            <a:avLst/>
          </a:prstGeom>
          <a:solidFill>
            <a:srgbClr val="EBF0E6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D7052"/>
                </a:solidFill>
              </a:defRPr>
            </a:pPr>
            <a:r>
              <a:t>final_score = 0.6 × similarity + 0.4 × gap_score</a:t>
            </a:r>
          </a:p>
          <a:p>
            <a:pPr algn="ctr">
              <a:defRPr sz="1300">
                <a:solidFill>
                  <a:srgbClr val="2C2C24"/>
                </a:solidFill>
              </a:defRPr>
            </a:pPr>
            <a:r>
              <a:t>similarity = 0.5 × track_alignment + 0.5 × vector_semantic_similarity + beginner_bonus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28416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797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2C24"/>
                </a:solidFill>
              </a:defRPr>
            </a:pPr>
            <a:r>
              <a:t>Track Similarity (50%)</a:t>
            </a:r>
          </a:p>
          <a:p>
            <a:pPr>
              <a:spcBef>
                <a:spcPts val="1000"/>
              </a:spcBef>
              <a:defRPr sz="1200">
                <a:solidFill>
                  <a:srgbClr val="64645F"/>
                </a:solidFill>
              </a:defRPr>
            </a:pPr>
            <a:r>
              <a:t>Evaluates goal alignment against the catalog track (e.g. ML, Web Dev, Law, Healthcare, Engineering).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200400"/>
            <a:ext cx="3328416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3474720"/>
            <a:ext cx="27797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2C24"/>
                </a:solidFill>
              </a:defRPr>
            </a:pPr>
            <a:r>
              <a:t>Vector Cosine Similarity (50%)</a:t>
            </a:r>
          </a:p>
          <a:p>
            <a:pPr>
              <a:spcBef>
                <a:spcPts val="1000"/>
              </a:spcBef>
              <a:defRPr sz="1200">
                <a:solidFill>
                  <a:srgbClr val="64645F"/>
                </a:solidFill>
              </a:defRPr>
            </a:pPr>
            <a:r>
              <a:t>Embeds goals and course descriptions using 384-dimensional vectors stored in pgvector.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3200400"/>
            <a:ext cx="3328416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3474720"/>
            <a:ext cx="27797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2C24"/>
                </a:solidFill>
              </a:defRPr>
            </a:pPr>
            <a:r>
              <a:t>Marginal Skill-Gap Score (40%)</a:t>
            </a:r>
          </a:p>
          <a:p>
            <a:pPr>
              <a:spcBef>
                <a:spcPts val="1000"/>
              </a:spcBef>
              <a:defRPr sz="1200">
                <a:solidFill>
                  <a:srgbClr val="64645F"/>
                </a:solidFill>
              </a:defRPr>
            </a:pPr>
            <a:r>
              <a:t>Rewards courses that teach competencies the learner currently lacks, avoiding redundant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MULTI-DISCIPLINARY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8F2"/>
                </a:solidFill>
              </a:defRPr>
            </a:pPr>
            <a:r>
              <a:t>Broadening beyond tech: Native non-CS career curricula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💻 Technology &amp; AI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Machine Learning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Full-Stack Web Dev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Cloud Architecture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DevOps &amp; 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82880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01168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🩺 Healthcare &amp; Medicine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Human Anatomy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Clinical Surgery Basics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Medical Ethics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Patient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82880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01168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⚖️ Law &amp; Legal Ops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Criminal Litigation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Corporate Contracts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Legal Negotiation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Constitutional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🏗️ Core Engineering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Civil Structural Design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Mechanical Systems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AutoCAD &amp; Drafting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Material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416052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434340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🔬 Forensics &amp; Psychology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Crime Scene Investigation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Cognitive Psychology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DNA Analysis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Behavioral Profiling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160520"/>
            <a:ext cx="3328416" cy="201168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4343400"/>
            <a:ext cx="2779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8C5D"/>
                </a:solidFill>
              </a:defRPr>
            </a:pPr>
            <a:r>
              <a:t>📈 Creator &amp; Digital Economy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Digital Marketing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Content Strategy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Growth Analytics</a:t>
            </a:r>
          </a:p>
          <a:p>
            <a:pPr>
              <a:defRPr sz="1100">
                <a:solidFill>
                  <a:srgbClr val="D2D7CD"/>
                </a:solidFill>
              </a:defRPr>
            </a:pPr>
            <a:r>
              <a:t>• Brand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D7052"/>
                </a:solidFill>
              </a:defRPr>
            </a:pPr>
            <a:r>
              <a:t>DATA MODEL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C24"/>
                </a:solidFill>
              </a:defRPr>
            </a:pPr>
            <a:r>
              <a:t>Nine relational tables protected by PostgreSQL Row Level Security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217920"/>
                <a:gridCol w="1947672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Functional Purpose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8F2"/>
                          </a:solidFill>
                        </a:defRPr>
                      </a:pPr>
                      <a:r>
                        <a:t>Security / Access</a:t>
                      </a:r>
                    </a:p>
                  </a:txBody>
                  <a:tcPr>
                    <a:solidFill>
                      <a:srgbClr val="5D70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learner_profiles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Stores career goals, experience levels, and learning preferences.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Canonical catalog of CS and non-CS competency benchmarks.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learner_skills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Per-user proficiency records (self-reported, inferred, or assessed).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courses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Course catalog populated with 384-dimensional pgvector embeddings.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course_skills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Maps courses to taught skills and explicit prerequisite requirements.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18C5D"/>
                          </a:solidFill>
                        </a:defRPr>
                      </a:pPr>
                      <a:r>
                        <a:t>Public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learning_paths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Maintains saved learning journeys and multi-goal curriculums.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path_items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Ordered milestone courses, statuses, scores, and AI explanations.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quiz_attempts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Server-side storage of quiz questions, answers, and evaluation grades.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5F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C24"/>
                          </a:solidFill>
                        </a:defRPr>
                      </a:pPr>
                      <a:r>
                        <a:t>chat_history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C2C24"/>
                          </a:solidFill>
                        </a:defRPr>
                      </a:pPr>
                      <a:r>
                        <a:t>Contextual conversational transcripts with the AI mentor.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D7052"/>
                          </a:solidFill>
                        </a:defRPr>
                      </a:pPr>
                      <a:r>
                        <a:t>User 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18C5D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8F2"/>
                </a:solidFill>
              </a:defRPr>
            </a:pPr>
            <a:r>
              <a:t>From initial aspiration to an evolving, verified career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6596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8F2"/>
                </a:solidFill>
              </a:defRPr>
            </a:pPr>
            <a:r>
              <a:t>1. Auth &amp; Entry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Secure Supabase Sign-in / Sign-up with session-aware route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2011680"/>
            <a:ext cx="196596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99816" y="233172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6" y="301752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8F2"/>
                </a:solidFill>
              </a:defRPr>
            </a:pPr>
            <a:r>
              <a:t>2. Goal &amp; Resume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Describe career ambitions or upload resume for automated skill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2011680"/>
            <a:ext cx="196596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5232" y="233172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301752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8F2"/>
                </a:solidFill>
              </a:defRPr>
            </a:pPr>
            <a:r>
              <a:t>3. Skill Gap Analysis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Explore matched competencies vs. missing requirements against target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2011680"/>
            <a:ext cx="196596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70648" y="233172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301752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8F2"/>
                </a:solidFill>
              </a:defRPr>
            </a:pPr>
            <a:r>
              <a:t>4. Dynamic Roadmap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Explore ordered milestone timeline with AI-generated pedagogical rationales.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2011680"/>
            <a:ext cx="1965960" cy="3931920"/>
          </a:xfrm>
          <a:prstGeom prst="roundRect">
            <a:avLst/>
          </a:prstGeom>
          <a:solidFill>
            <a:srgbClr val="343E2F"/>
          </a:solidFill>
          <a:ln w="19050">
            <a:solidFill>
              <a:srgbClr val="5D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56064" y="2331720"/>
            <a:ext cx="502920" cy="50292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8F2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301752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8F2"/>
                </a:solidFill>
              </a:defRPr>
            </a:pPr>
            <a:r>
              <a:t>5. Verify &amp; Progress</a:t>
            </a:r>
          </a:p>
          <a:p>
            <a:pPr>
              <a:spcBef>
                <a:spcPts val="800"/>
              </a:spcBef>
              <a:defRPr sz="1100">
                <a:solidFill>
                  <a:srgbClr val="C8CDC3"/>
                </a:solidFill>
              </a:defRPr>
            </a:pPr>
            <a:r>
              <a:t>Take MCQ quizzes, complete milestones, boost skills, and prune path items.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2704" y="1645920"/>
            <a:ext cx="914400" cy="914400"/>
          </a:xfrm>
          <a:prstGeom prst="ellipse">
            <a:avLst/>
          </a:prstGeom>
          <a:solidFill>
            <a:srgbClr val="C1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8F2"/>
                </a:solidFill>
              </a:defRPr>
            </a:pPr>
            <a:r>
              <a:t>Grow a curriculum around every 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DC3"/>
                </a:solidFill>
              </a:defRPr>
            </a:pPr>
            <a:r>
              <a:t>LearnAI — Conversational goals, resume skill-gap intelligence, explainable recommendations, and an adaptive learning design built to feel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D7052"/>
                </a:solidFill>
              </a:defRPr>
            </a:pPr>
            <a:r>
              <a:t>Thank you — Code Catalyst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