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411480"/>
          </a:xfrm>
          <a:prstGeom prst="roundRect">
            <a:avLst/>
          </a:prstGeom>
          <a:solidFill>
            <a:srgbClr val="343E2F"/>
          </a:solidFill>
          <a:ln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8F2"/>
                </a:solidFill>
              </a:defRPr>
            </a:pPr>
            <a:r>
              <a:t>🌿 LEARNAI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800" b="1">
                <a:solidFill>
                  <a:srgbClr val="F8F8F2"/>
                </a:solidFill>
              </a:defRPr>
            </a:pPr>
            <a:r>
              <a:t>An AI-Powered Personalized</a:t>
            </a:r>
            <a:br/>
            <a:r>
              <a:t>Learning &amp; Skill-Gap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6012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50">
                <a:solidFill>
                  <a:srgbClr val="C8CDC3"/>
                </a:solidFill>
              </a:defRPr>
            </a:pPr>
            <a:r>
              <a:t>Turning free-text career goals, resume uploads, and skill assessments into structured, explainable, and adaptive learning paths — built on Supabase, pgvector, and Groq LLMs.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C18C5D"/>
                </a:solidFill>
              </a:defRPr>
            </a:pPr>
            <a:r>
              <a:t>By Code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87877D"/>
                </a:solidFill>
              </a:defRPr>
            </a:pPr>
            <a:r>
              <a:t>PROJECT OVERVIEW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C2C24"/>
                </a:solidFill>
              </a:defRPr>
            </a:pPr>
            <a:r>
              <a:t>Generic course catalogs don't know what you already 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03120"/>
            <a:ext cx="594360" cy="594360"/>
          </a:xfrm>
          <a:prstGeom prst="ellipse">
            <a:avLst/>
          </a:prstGeom>
          <a:solidFill>
            <a:srgbClr val="5D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8F2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688336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C2C24"/>
                </a:solidFill>
              </a:defRPr>
            </a:pPr>
            <a:r>
              <a:t>One-Size-Fits-All Catalogs</a:t>
            </a:r>
          </a:p>
          <a:p>
            <a:pPr>
              <a:spcBef>
                <a:spcPts val="1400"/>
              </a:spcBef>
              <a:defRPr sz="1250">
                <a:solidFill>
                  <a:srgbClr val="64645F"/>
                </a:solidFill>
              </a:defRPr>
            </a:pPr>
            <a:r>
              <a:t>Learners scroll through long lists of courses with no sense of pedagogical order, prerequisite validation, or individualized starting points based on existing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73736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27448" y="2103120"/>
            <a:ext cx="594360" cy="594360"/>
          </a:xfrm>
          <a:prstGeom prst="ellipse">
            <a:avLst/>
          </a:prstGeom>
          <a:solidFill>
            <a:srgbClr val="5D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8F2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971800"/>
            <a:ext cx="2688336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C2C24"/>
                </a:solidFill>
              </a:defRPr>
            </a:pPr>
            <a:r>
              <a:t>Goals Stay Unstructured</a:t>
            </a:r>
          </a:p>
          <a:p>
            <a:pPr>
              <a:spcBef>
                <a:spcPts val="1400"/>
              </a:spcBef>
              <a:defRPr sz="1250">
                <a:solidFill>
                  <a:srgbClr val="64645F"/>
                </a:solidFill>
              </a:defRPr>
            </a:pPr>
            <a:r>
              <a:t>"I want to become an ML engineer" or "I want to be a Doctor" never gets translated into concrete, measurable, and verified skill competencies.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3736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03336" y="2103120"/>
            <a:ext cx="594360" cy="594360"/>
          </a:xfrm>
          <a:prstGeom prst="ellipse">
            <a:avLst/>
          </a:prstGeom>
          <a:solidFill>
            <a:srgbClr val="5D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8F2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2971800"/>
            <a:ext cx="2688336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C2C24"/>
                </a:solidFill>
              </a:defRPr>
            </a:pPr>
            <a:r>
              <a:t>No Visible Progress Logic</a:t>
            </a:r>
          </a:p>
          <a:p>
            <a:pPr>
              <a:spcBef>
                <a:spcPts val="1400"/>
              </a:spcBef>
              <a:defRPr sz="1250">
                <a:solidFill>
                  <a:srgbClr val="64645F"/>
                </a:solidFill>
              </a:defRPr>
            </a:pPr>
            <a:r>
              <a:t>Recommendations feel like a black box — learners cannot see why a course was suggested, how it fits their roadmap, or what tangible gap it closes.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8F8F2"/>
                </a:solidFill>
              </a:defRPr>
            </a:pPr>
            <a:r>
              <a:t>LearnAI turns goals &amp; resumes into guided, explainable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488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9202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50" b="1">
                <a:solidFill>
                  <a:srgbClr val="F8F8F2"/>
                </a:solidFill>
              </a:defRPr>
            </a:pPr>
            <a:r>
              <a:t>Describe / Upload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Free-text career goals or resume uploads (.pdf / .docx) across CS &amp; Non-CS 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20624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40" y="21488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743200"/>
            <a:ext cx="19202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50" b="1">
                <a:solidFill>
                  <a:srgbClr val="F8F8F2"/>
                </a:solidFill>
              </a:defRPr>
            </a:pPr>
            <a:r>
              <a:t>AI Parses Skills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Groq LLM extracts canonical skills &amp; benchmarks against 100+ roles in role_skills.json.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20624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1488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19202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50" b="1">
                <a:solidFill>
                  <a:srgbClr val="F8F8F2"/>
                </a:solidFill>
              </a:defRPr>
            </a:pPr>
            <a:r>
              <a:t>Path Is Generated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Topological sequencing + pgvector cosine similarity + skill-gap scoring builds the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468880" cy="420624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21488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743200"/>
            <a:ext cx="19202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50" b="1">
                <a:solidFill>
                  <a:srgbClr val="F8F8F2"/>
                </a:solidFill>
              </a:defRPr>
            </a:pPr>
            <a:r>
              <a:t>Track &amp; Adapt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Interactive verified quizzes, adaptive progress boosting, and a scoped AI learning guide.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C2C24"/>
                </a:solidFill>
              </a:defRPr>
            </a:pPr>
            <a:r>
              <a:t>A lean, serverless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1024128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💻 Browser &amp; Client Layer</a:t>
            </a:r>
          </a:p>
          <a:p>
            <a:pPr>
              <a:spcBef>
                <a:spcPts val="300"/>
              </a:spcBef>
              <a:defRPr sz="1150">
                <a:solidFill>
                  <a:srgbClr val="64645F"/>
                </a:solidFill>
              </a:defRPr>
            </a:pPr>
            <a:r>
              <a:t>React 19 + Vite 8 + Tailwind CSS 4 • React Router 7 • TanStack Query • Recharts • PDF.js &amp; Mammoth client-side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521208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7548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🔒 Auth &amp; Postgres (RLS)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Row-level security on every learner table, pgvector extension for 384-dim course embeddings, auth.users-backed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880360"/>
            <a:ext cx="521208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971800"/>
            <a:ext cx="47548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⚡ Edge Functions (Deno/TS)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Eight serverless functions handle parsing, vector scoring, path assembly, quiz verification, live progress rescoring, and chat — invoked via supabase.functions.invoke().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5912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28032"/>
            <a:ext cx="10241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🤖 Groq LLM Inference</a:t>
            </a:r>
          </a:p>
          <a:p>
            <a:pPr>
              <a:spcBef>
                <a:spcPts val="300"/>
              </a:spcBef>
              <a:defRPr sz="1150">
                <a:solidFill>
                  <a:srgbClr val="64645F"/>
                </a:solidFill>
              </a:defRPr>
            </a:pPr>
            <a:r>
              <a:t>Goal extraction, milestone rationales, verified quiz generation, and scoped AI chat all run through Groq for sub-second low-latency inference.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725912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50" i="1">
                <a:solidFill>
                  <a:srgbClr val="87877D"/>
                </a:solidFill>
              </a:defRPr>
            </a:pPr>
            <a:r>
              <a:t>Deployed on Vercel (frontend) + Supabase (backend) — no dedicated servers to manage.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C2C24"/>
                </a:solidFill>
              </a:defRPr>
            </a:pPr>
            <a:r>
              <a:t>Six capabilities, one continuous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Conversational Goal Parsing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Free-text goals mapped to a canonical skill taxonomy via Groq LLM extraction without hallucination.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7373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1920240"/>
            <a:ext cx="2871216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Resume Skill Gap Analyzer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Upload .pdf / .docx resumes to benchmark qualifications against 100+ roles in role_skills.json.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7373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1896" y="1920240"/>
            <a:ext cx="2871216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Personalized Learning Paths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Topological curriculum curation combining pgvector similarity with marginal skill-gap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2871216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Interactive MCQ Verification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Dynamic 3-question quizzes generated per skill via Groq with server-side grading and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40233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4206240"/>
            <a:ext cx="2871216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Adaptive Progress &amp; Edit Plan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Real-time skill proficiency boosting upon completion + full flexibility to prune path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02336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4206240"/>
            <a:ext cx="2871216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AI Learning Guide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A scoped mentor that reasons directly over each learner's chat history, verified skills, and roadmap.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AI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8F8F2"/>
                </a:solidFill>
              </a:defRPr>
            </a:pPr>
            <a:r>
              <a:t>Eight Edge Functions power every AI moment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parse-goal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Extracts skills &amp; experience level from free-text goals via Groq LLM extraction.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get-recommendations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Vector similarity search over course embeddings, blended with skill-gap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generate-path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Greedy topological builder that orders courses into milestone-labeled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1324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update-progress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Live boosts skill proficiency on completion and dynamically re-scores remaining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73736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4708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generate-quiz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Generates 3-question MCQ skill verification quizzes server-side via Groq.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292608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3580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submit-quiz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Evaluates submissions, logs attempts to quiz_attempts, and verifies skills in 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411480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22452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ask-assistant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Context-aware chat assistant scoped to the learner's live profile, skills, and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530352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5413248"/>
            <a:ext cx="4754880" cy="740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explain-path-item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Generates a short, personalized rationale for each recommended milestone 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HOW SCORING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C2C24"/>
                </a:solidFill>
              </a:defRPr>
            </a:pPr>
            <a:r>
              <a:t>Every course gets a final, explainable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188720"/>
          </a:xfrm>
          <a:prstGeom prst="roundRect">
            <a:avLst/>
          </a:prstGeom>
          <a:solidFill>
            <a:srgbClr val="EBF0E6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100" b="1">
                <a:solidFill>
                  <a:srgbClr val="5D7052"/>
                </a:solidFill>
              </a:defRPr>
            </a:pPr>
            <a:r>
              <a:t>final_score  =  0.6 × similarity  +  0.4 × gap_score</a:t>
            </a:r>
          </a:p>
          <a:p>
            <a:pPr algn="ctr">
              <a:spcBef>
                <a:spcPts val="400"/>
              </a:spcBef>
              <a:defRPr sz="1200">
                <a:solidFill>
                  <a:srgbClr val="2C2C24"/>
                </a:solidFill>
              </a:defRPr>
            </a:pPr>
            <a:r>
              <a:t>similarity = 0.5 × track alignment + 0.5 × vector semantic overlap (with a small beginner-friendliness bonus)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328416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779776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2C2C24"/>
                </a:solidFill>
              </a:defRPr>
            </a:pPr>
            <a:r>
              <a:t>Track Similarity (50%)</a:t>
            </a:r>
          </a:p>
          <a:p>
            <a:pPr>
              <a:spcBef>
                <a:spcPts val="1200"/>
              </a:spcBef>
              <a:defRPr sz="1200">
                <a:solidFill>
                  <a:srgbClr val="64645F"/>
                </a:solidFill>
              </a:defRPr>
            </a:pPr>
            <a:r>
              <a:t>Matches goal language ("ML engineer", "data scientist", "doctor", "lawyer") to each course's canonical track.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3063240"/>
            <a:ext cx="3328416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3291840"/>
            <a:ext cx="2779776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2C2C24"/>
                </a:solidFill>
              </a:defRPr>
            </a:pPr>
            <a:r>
              <a:t>Vector Cosine Overlap (50%)</a:t>
            </a:r>
          </a:p>
          <a:p>
            <a:pPr>
              <a:spcBef>
                <a:spcPts val="1200"/>
              </a:spcBef>
              <a:defRPr sz="1200">
                <a:solidFill>
                  <a:srgbClr val="64645F"/>
                </a:solidFill>
              </a:defRPr>
            </a:pPr>
            <a:r>
              <a:t>Compares goal terms against course titles and descriptions using 384-dimensional vector embeddings in pgvector.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3063240"/>
            <a:ext cx="3328416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3291840"/>
            <a:ext cx="2779776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2C2C24"/>
                </a:solidFill>
              </a:defRPr>
            </a:pPr>
            <a:r>
              <a:t>Skill-Gap Score (40%)</a:t>
            </a:r>
          </a:p>
          <a:p>
            <a:pPr>
              <a:spcBef>
                <a:spcPts val="1200"/>
              </a:spcBef>
              <a:defRPr sz="1200">
                <a:solidFill>
                  <a:srgbClr val="64645F"/>
                </a:solidFill>
              </a:defRPr>
            </a:pPr>
            <a:r>
              <a:t>Rewards courses that teach competencies the learner doesn't yet have, accelerating tangible career readiness.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MULTI-DISCIPLINARY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8F8F2"/>
                </a:solidFill>
              </a:defRPr>
            </a:pPr>
            <a:r>
              <a:t>Broadening beyond tech: High-demand CS &amp; Non-CS tracks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01952"/>
            <a:ext cx="2871216" cy="16824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50" b="1">
                <a:solidFill>
                  <a:srgbClr val="C18C5D"/>
                </a:solidFill>
              </a:defRPr>
            </a:pPr>
            <a:r>
              <a:t>💻 Technology &amp; AI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Machine Learning &amp; Deep Learning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Full-Stack Web (React/Node)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Cloud &amp; DevOps (Docker/K8s)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Data Science &amp;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73736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1901952"/>
            <a:ext cx="2871216" cy="16824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50" b="1">
                <a:solidFill>
                  <a:srgbClr val="C18C5D"/>
                </a:solidFill>
              </a:defRPr>
            </a:pPr>
            <a:r>
              <a:t>🩺 Healthcare &amp; Medicine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Human Anatomy &amp; Physiology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Clinical Surgery Fundamentals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Medical Ethics &amp; Bioethics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Patient Health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73736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1896" y="1901952"/>
            <a:ext cx="2871216" cy="16824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50" b="1">
                <a:solidFill>
                  <a:srgbClr val="C18C5D"/>
                </a:solidFill>
              </a:defRPr>
            </a:pPr>
            <a:r>
              <a:t>⚖️ Law &amp; Legal Ops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Criminal Law &amp; Litigation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Corporate Contract Law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Legal Negotiation &amp; ADR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Constitutional Jurisprudence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87952"/>
            <a:ext cx="2871216" cy="16824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50" b="1">
                <a:solidFill>
                  <a:srgbClr val="C18C5D"/>
                </a:solidFill>
              </a:defRPr>
            </a:pPr>
            <a:r>
              <a:t>🏗️ Core Engineering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Civil Structural Design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Mechanical Thermal Systems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AutoCAD &amp; Engineering Drafting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Material Science Fundamentals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402336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4187952"/>
            <a:ext cx="2871216" cy="16824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50" b="1">
                <a:solidFill>
                  <a:srgbClr val="C18C5D"/>
                </a:solidFill>
              </a:defRPr>
            </a:pPr>
            <a:r>
              <a:t>🔬 Forensics &amp; Psychology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Crime Scene Forensics &amp; Evidence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Cognitive &amp; Clinical Psychology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DNA Profiling &amp; Ballistics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Behavioral &amp; Criminal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02336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4187952"/>
            <a:ext cx="2871216" cy="16824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50" b="1">
                <a:solidFill>
                  <a:srgbClr val="C18C5D"/>
                </a:solidFill>
              </a:defRPr>
            </a:pPr>
            <a:r>
              <a:t>📈 Creator &amp; Digital Economy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Digital Marketing Strategy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Growth Analytics &amp; SEO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Content Creation &amp; Storytelling</a:t>
            </a:r>
          </a:p>
          <a:p>
            <a:pPr>
              <a:defRPr sz="1050">
                <a:solidFill>
                  <a:srgbClr val="D2D7CD"/>
                </a:solidFill>
              </a:defRPr>
            </a:pPr>
            <a:r>
              <a:t>• Brand Strategy &amp; Monetization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2C2C24"/>
                </a:solidFill>
              </a:defRPr>
            </a:pPr>
            <a:r>
              <a:t>Nine tables, RLS on everything personal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519672"/>
                <a:gridCol w="1828800"/>
              </a:tblGrid>
              <a:tr h="4480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8F2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5D7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8F2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5D7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8F2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5D705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learner_profiles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Goal, experience level, preferences, &amp; interests.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D7052"/>
                          </a:solidFill>
                        </a:defRPr>
                      </a:pPr>
                      <a:r>
                        <a:t>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Canonical skill catalogue across CS &amp; Non-CS domains.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C18C5D"/>
                          </a:solidFill>
                        </a:defRPr>
                      </a:pPr>
                      <a:r>
                        <a:t>Public read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learner_skills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Per-user proficiency (self-reported / inferred / assessed).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D7052"/>
                          </a:solidFill>
                        </a:defRPr>
                      </a:pPr>
                      <a:r>
                        <a:t>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courses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Catalog with pgvector(384) embeddings.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C18C5D"/>
                          </a:solidFill>
                        </a:defRPr>
                      </a:pPr>
                      <a:r>
                        <a:t>Public read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course_skills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Course ↔ skill mapping including prerequisites.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C18C5D"/>
                          </a:solidFill>
                        </a:defRPr>
                      </a:pPr>
                      <a:r>
                        <a:t>Public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learning_paths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Ordered, milestone-labeled curricula per learner.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D7052"/>
                          </a:solidFill>
                        </a:defRPr>
                      </a:pPr>
                      <a:r>
                        <a:t>RLS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path_items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Ordered milestone courses, statuses, scores, &amp; AI explanations.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D7052"/>
                          </a:solidFill>
                        </a:defRPr>
                      </a:pPr>
                      <a:r>
                        <a:t>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quiz_attempts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Server-side questions, user submissions, &amp; verification grades.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D7052"/>
                          </a:solidFill>
                        </a:defRPr>
                      </a:pPr>
                      <a:r>
                        <a:t>RLS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4"/>
                          </a:solidFill>
                        </a:defRPr>
                      </a:pPr>
                      <a:r>
                        <a:t>chat_history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C2C24"/>
                          </a:solidFill>
                        </a:defRPr>
                      </a:pPr>
                      <a:r>
                        <a:t>AI guide conversation log per learner.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D7052"/>
                          </a:solidFill>
                        </a:defRPr>
                      </a:pPr>
                      <a:r>
                        <a:t>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F8F8F2"/>
                </a:solidFill>
              </a:defRPr>
            </a:pPr>
            <a:r>
              <a:t>From sign-in to a living, adaptive curriculum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65960" cy="411480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600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F8F8F2"/>
                </a:solidFill>
              </a:defRPr>
            </a:pPr>
            <a:r>
              <a:t>Login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Supabase Auth sign-in / sign-up with session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828800"/>
            <a:ext cx="1965960" cy="411480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99816" y="214884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6" y="2834640"/>
            <a:ext cx="1600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F8F8F2"/>
                </a:solidFill>
              </a:defRPr>
            </a:pPr>
            <a:r>
              <a:t>Onboarding / Resume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Learner states their goal or uploads resume (.pdf / .docx).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828800"/>
            <a:ext cx="1965960" cy="411480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5232" y="214884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2834640"/>
            <a:ext cx="1600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F8F8F2"/>
                </a:solidFill>
              </a:defRPr>
            </a:pPr>
            <a:r>
              <a:t>Dashboard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Mastery radar, active paths, skill gaps, &amp; progress bars.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1828800"/>
            <a:ext cx="1965960" cy="411480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70648" y="214884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834640"/>
            <a:ext cx="1600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F8F8F2"/>
                </a:solidFill>
              </a:defRPr>
            </a:pPr>
            <a:r>
              <a:t>Path Detail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Milestone timeline, course rationales, &amp; Edit Plan pruning.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828800"/>
            <a:ext cx="1965960" cy="411480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56064" y="214884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6064" y="2834640"/>
            <a:ext cx="1600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50" b="1">
                <a:solidFill>
                  <a:srgbClr val="F8F8F2"/>
                </a:solidFill>
              </a:defRPr>
            </a:pPr>
            <a:r>
              <a:t>Verify &amp; Adapt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Interactive MCQ quizzes, skill boosting, &amp; AI guide chat.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10725912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50" i="1">
                <a:solidFill>
                  <a:srgbClr val="87877D"/>
                </a:solidFill>
              </a:defRPr>
            </a:pPr>
            <a:r>
              <a:t>Every stage is protected by session-aware routing; unauthenticated visitors are redirected straight back to Login.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2704" y="1463040"/>
            <a:ext cx="914400" cy="91440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600" b="1">
                <a:solidFill>
                  <a:srgbClr val="F8F8F2"/>
                </a:solidFill>
              </a:defRPr>
            </a:pPr>
            <a:r>
              <a:t>Grow a curriculum around every 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>
                <a:solidFill>
                  <a:srgbClr val="C8CDC3"/>
                </a:solidFill>
              </a:defRPr>
            </a:pPr>
            <a:r>
              <a:t>LearnAI — Conversational goals, resume skill-gap intelligence, explainable recommendations, and a design system built to feel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015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5D7052"/>
                </a:solidFill>
              </a:defRPr>
            </a:pPr>
            <a:r>
              <a:t>Thank you — Code Catalyst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